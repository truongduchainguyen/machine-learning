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DB91C-9157-4338-A49A-76DE31AB4B00}" v="70" dt="2021-03-11T12:41:38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4DC0-C534-49BB-8362-BE756CA8D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7ECFB-3371-44EC-8322-23E9613D4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4A401-6EDE-4DE6-BE12-792FD4AE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4B6E6-A353-4240-BB89-3F76A668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2EE94-6E6E-43C4-9B4A-054DB00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1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6641-A730-4B9F-847D-8F191373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C562-D356-4218-A202-88A3DF83F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60708-328F-4D05-B4CA-1CF6672A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6E25-D881-4867-9861-0E8E3933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4264D-98C8-448F-BBC2-A3FA2B7A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6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7C7E-5FAE-4535-9422-7BB9E13F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EE871-5951-4F34-8B42-DAD90AEA0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FBA4D-75A6-4897-B2BF-CB4407DB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0C7-5E8B-4333-A220-CD777730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D0D1-8535-4D51-A945-E252C5AE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6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6785-22E8-4010-BF4C-9321CFCE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7CB4-80D9-4864-B088-C1C382C35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41CE9-D20D-48A7-B3A9-2E09D9BD0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2AD86-A510-464C-B062-278396A1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A0078-F1EC-45AC-9DC2-62D6D3D8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FDD3F-BD2A-46BE-8587-67844192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9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5BC7-331C-4834-935A-687052E2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C866C-07AB-4AAE-999D-20A84B37B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D00E-8AF1-4E55-81DF-8234BB8E9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90C47-82BB-4DE0-8CB9-CAB9A05ED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D2918-F6DA-447F-9FDF-C59322BE5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6E4FD-3654-4E3B-AA77-023743C4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74184-4C71-489A-838C-474717C8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5F97C-5916-4088-B6DB-8819B03E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9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2DF4-2912-46F5-A39F-50267734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A09FA-16FD-4DBD-9DD7-68ACA0AE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33809-6F05-4A19-BED7-35A28384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D75E5-0C9E-458C-9CE0-A1D910F4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8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25E0C-5340-43C5-8DAA-576F4BE5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028CE-F19C-4A63-B660-1B85A3B8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CCC0-8E27-4292-833E-A5BC8617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8E13-5892-4B8A-9CA3-ADEB9BA9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EF39A-42B3-4E4E-826A-5D5ABA0EE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B53BF-8059-4CDF-B0D3-6F7B9151F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77B3-3E8F-4F99-8CD3-27F7AAB6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6778E-53E4-4EE3-AB87-ADDE7AFA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EEBBF-BFF3-475A-A8D3-DAFAAD04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3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1D55-D63F-4FFD-A1EF-CDEE7C2C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17E4A-B520-4285-A22E-FBA332870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78268-5DE9-4CF5-BA7D-F26701EEE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0A721-EE22-406E-9FC5-1453BFC8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F81A5-A153-424A-8A3C-32E48539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B5E93-005C-4DBA-B1A4-35E90891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78A6-B676-4264-9D8D-CDE035E7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41966-7846-4930-97C9-F08FFEFD1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A0243-5B3B-4529-A3E2-B8550275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4B3F3-0A58-4A1E-BB23-33449C68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C893A-84E8-4B47-BF01-054CF1CD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7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5E17C-824C-46A2-BA6D-8FB083973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DFCBD-EDD1-4BD8-904C-FCAB09173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1FF43-424E-40F9-808C-1D8A26D1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072B-5431-4B96-BCC0-7AC31E3A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D8B0-AE83-48C2-8CEE-5980554E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2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39B02-DA0A-4A15-93F1-6EB79D97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6435A-EF5F-434D-8623-3C046E2F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6FD01-719D-483E-9B01-E413A9C6B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B01ED-B30E-4DC5-96E0-67E384EB8AE7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0730D-7947-4E05-861D-0AD2BEAD2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5F3B-14F6-4335-B1AF-C3BE9CFF9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EABCB-189D-43B0-AAAB-AAF58B10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3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F515-EBC1-43D8-8131-CF346C953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780" y="709127"/>
            <a:ext cx="9912220" cy="1425185"/>
          </a:xfrm>
          <a:solidFill>
            <a:schemeClr val="tx1"/>
          </a:solidFill>
        </p:spPr>
        <p:txBody>
          <a:bodyPr/>
          <a:lstStyle/>
          <a:p>
            <a:pPr algn="l"/>
            <a:r>
              <a:rPr lang="en-US" b="1">
                <a:solidFill>
                  <a:schemeClr val="bg1"/>
                </a:solidFill>
              </a:rPr>
              <a:t>ĐỒ ÁN HỌC MÁY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66787-293A-4537-9CA2-E1235FC69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780" y="2351736"/>
            <a:ext cx="9912220" cy="1655762"/>
          </a:xfrm>
        </p:spPr>
        <p:txBody>
          <a:bodyPr>
            <a:noAutofit/>
          </a:bodyPr>
          <a:lstStyle/>
          <a:p>
            <a:pPr algn="l">
              <a:spcBef>
                <a:spcPts val="2400"/>
              </a:spcBef>
            </a:pPr>
            <a:r>
              <a:rPr lang="en-US" sz="5400">
                <a:latin typeface="+mj-lt"/>
              </a:rPr>
              <a:t>Phân biệt hình ảnh chó và mèo sử dụng CNN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2C1E1F-7493-46DE-A22D-E405D0A895A2}"/>
              </a:ext>
            </a:extLst>
          </p:cNvPr>
          <p:cNvCxnSpPr>
            <a:cxnSpLocks/>
          </p:cNvCxnSpPr>
          <p:nvPr/>
        </p:nvCxnSpPr>
        <p:spPr>
          <a:xfrm flipH="1">
            <a:off x="755780" y="2312016"/>
            <a:ext cx="9912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24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8B8D-B01C-4312-BDD2-0D858ADE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bài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1790F-FF1C-47D8-9A50-222F3D6C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1107395"/>
          </a:xfrm>
        </p:spPr>
        <p:txBody>
          <a:bodyPr numCol="1">
            <a:normAutofit/>
          </a:bodyPr>
          <a:lstStyle/>
          <a:p>
            <a:r>
              <a:rPr lang="en-US"/>
              <a:t>Input: một hình ảnh X</a:t>
            </a:r>
          </a:p>
          <a:p>
            <a:r>
              <a:rPr lang="en-US"/>
              <a:t>Output: Một label của bài toán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1C2B58-BA1B-43CC-B274-A31CEE74A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575871"/>
              </p:ext>
            </p:extLst>
          </p:nvPr>
        </p:nvGraphicFramePr>
        <p:xfrm>
          <a:off x="838201" y="2933020"/>
          <a:ext cx="8389776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93881">
                  <a:extLst>
                    <a:ext uri="{9D8B030D-6E8A-4147-A177-3AD203B41FA5}">
                      <a16:colId xmlns:a16="http://schemas.microsoft.com/office/drawing/2014/main" val="2123742056"/>
                    </a:ext>
                  </a:extLst>
                </a:gridCol>
                <a:gridCol w="6095895">
                  <a:extLst>
                    <a:ext uri="{9D8B030D-6E8A-4147-A177-3AD203B41FA5}">
                      <a16:colId xmlns:a16="http://schemas.microsoft.com/office/drawing/2014/main" val="1763390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Điều kiện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03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Chó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nếu X chỉ chứa chó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9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Mèo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nếu X chỉ chứa mèo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4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Chó và mèo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nếu X chứa cả chó và mèo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39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Không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nếu X không chứa cả chó và mèo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24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92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8B8D-B01C-4312-BDD2-0D858ADE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bài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1790F-FF1C-47D8-9A50-222F3D6C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565844"/>
          </a:xfrm>
        </p:spPr>
        <p:txBody>
          <a:bodyPr numCol="1">
            <a:normAutofit/>
          </a:bodyPr>
          <a:lstStyle/>
          <a:p>
            <a:r>
              <a:rPr lang="en-US"/>
              <a:t>Input: một hình ảnh X</a:t>
            </a:r>
          </a:p>
          <a:p>
            <a:r>
              <a:rPr lang="en-US"/>
              <a:t>Output: Một label của bài toán</a:t>
            </a:r>
          </a:p>
          <a:p>
            <a:r>
              <a:rPr lang="en-US"/>
              <a:t>Bài toán: Multiclass-classification</a:t>
            </a:r>
          </a:p>
          <a:p>
            <a:r>
              <a:rPr lang="en-US"/>
              <a:t>Mô hình sử dụng: Convolutional Neural Network (CNN)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5FA904A-FD59-4B23-ADA7-4DACDAB9397E}"/>
              </a:ext>
            </a:extLst>
          </p:cNvPr>
          <p:cNvSpPr/>
          <p:nvPr/>
        </p:nvSpPr>
        <p:spPr>
          <a:xfrm>
            <a:off x="2808514" y="2008777"/>
            <a:ext cx="5952931" cy="37665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56DA1-47D3-4913-9107-A701CE55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trúc mô hình</a:t>
            </a:r>
          </a:p>
        </p:txBody>
      </p:sp>
      <p:pic>
        <p:nvPicPr>
          <p:cNvPr id="9" name="Graphic 8" descr="Dog with solid fill">
            <a:extLst>
              <a:ext uri="{FF2B5EF4-FFF2-40B4-BE49-F238E27FC236}">
                <a16:creationId xmlns:a16="http://schemas.microsoft.com/office/drawing/2014/main" id="{23F6ECDD-55F9-4797-B355-8490DB96C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279" y="2063255"/>
            <a:ext cx="914400" cy="914400"/>
          </a:xfrm>
          <a:prstGeom prst="rect">
            <a:avLst/>
          </a:prstGeom>
        </p:spPr>
      </p:pic>
      <p:pic>
        <p:nvPicPr>
          <p:cNvPr id="11" name="Graphic 10" descr="Cat with solid fill">
            <a:extLst>
              <a:ext uri="{FF2B5EF4-FFF2-40B4-BE49-F238E27FC236}">
                <a16:creationId xmlns:a16="http://schemas.microsoft.com/office/drawing/2014/main" id="{19424934-F5AC-4327-A4C3-4D04F14B5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8279" y="2977655"/>
            <a:ext cx="914400" cy="914400"/>
          </a:xfrm>
          <a:prstGeom prst="rect">
            <a:avLst/>
          </a:prstGeom>
        </p:spPr>
      </p:pic>
      <p:pic>
        <p:nvPicPr>
          <p:cNvPr id="14" name="Graphic 13" descr="No sign with solid fill">
            <a:extLst>
              <a:ext uri="{FF2B5EF4-FFF2-40B4-BE49-F238E27FC236}">
                <a16:creationId xmlns:a16="http://schemas.microsoft.com/office/drawing/2014/main" id="{EE8B1FBC-90C0-42FF-A46B-42BCDD655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8279" y="5066521"/>
            <a:ext cx="914400" cy="914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B138DF9-210C-4435-9F41-605FFDE5ADF6}"/>
              </a:ext>
            </a:extLst>
          </p:cNvPr>
          <p:cNvGrpSpPr/>
          <p:nvPr/>
        </p:nvGrpSpPr>
        <p:grpSpPr>
          <a:xfrm>
            <a:off x="9628097" y="3957071"/>
            <a:ext cx="1024582" cy="1044433"/>
            <a:chOff x="9553452" y="3892055"/>
            <a:chExt cx="1024582" cy="1044433"/>
          </a:xfrm>
        </p:grpSpPr>
        <p:pic>
          <p:nvPicPr>
            <p:cNvPr id="15" name="Graphic 14" descr="Dog outline">
              <a:extLst>
                <a:ext uri="{FF2B5EF4-FFF2-40B4-BE49-F238E27FC236}">
                  <a16:creationId xmlns:a16="http://schemas.microsoft.com/office/drawing/2014/main" id="{F40371FA-000F-47A7-9548-8535668D2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663634" y="4022088"/>
              <a:ext cx="914400" cy="914400"/>
            </a:xfrm>
            <a:prstGeom prst="rect">
              <a:avLst/>
            </a:prstGeom>
          </p:spPr>
        </p:pic>
        <p:pic>
          <p:nvPicPr>
            <p:cNvPr id="16" name="Graphic 15" descr="Cat outline">
              <a:extLst>
                <a:ext uri="{FF2B5EF4-FFF2-40B4-BE49-F238E27FC236}">
                  <a16:creationId xmlns:a16="http://schemas.microsoft.com/office/drawing/2014/main" id="{EA371CA0-88AA-4523-96D1-66151D822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9553452" y="3892055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561DA0-108E-4FAC-8616-F3DBB80554CE}"/>
              </a:ext>
            </a:extLst>
          </p:cNvPr>
          <p:cNvGrpSpPr/>
          <p:nvPr/>
        </p:nvGrpSpPr>
        <p:grpSpPr>
          <a:xfrm>
            <a:off x="838200" y="3179942"/>
            <a:ext cx="914400" cy="1130683"/>
            <a:chOff x="838200" y="2063255"/>
            <a:chExt cx="914400" cy="1130683"/>
          </a:xfrm>
        </p:grpSpPr>
        <p:pic>
          <p:nvPicPr>
            <p:cNvPr id="5" name="Graphic 4" descr="Image with solid fill">
              <a:extLst>
                <a:ext uri="{FF2B5EF4-FFF2-40B4-BE49-F238E27FC236}">
                  <a16:creationId xmlns:a16="http://schemas.microsoft.com/office/drawing/2014/main" id="{40BB1AD6-AF6E-475F-B796-BC211BAA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38200" y="2063255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0C6EBD1-2988-414F-BAA2-A4717A3E85DC}"/>
                </a:ext>
              </a:extLst>
            </p:cNvPr>
            <p:cNvSpPr txBox="1"/>
            <p:nvPr/>
          </p:nvSpPr>
          <p:spPr>
            <a:xfrm>
              <a:off x="959410" y="282460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Input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91AF4-70A9-4CD9-8789-37E32167732C}"/>
              </a:ext>
            </a:extLst>
          </p:cNvPr>
          <p:cNvSpPr/>
          <p:nvPr/>
        </p:nvSpPr>
        <p:spPr>
          <a:xfrm>
            <a:off x="3625260" y="2964137"/>
            <a:ext cx="201976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DOG</a:t>
            </a:r>
          </a:p>
          <a:p>
            <a:pPr algn="ctr"/>
            <a:r>
              <a:rPr lang="en-US">
                <a:latin typeface="+mj-lt"/>
              </a:rPr>
              <a:t>CLASSIFIER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1C3DA8-C7CE-4C72-A6E8-FBCC51B60B97}"/>
              </a:ext>
            </a:extLst>
          </p:cNvPr>
          <p:cNvSpPr/>
          <p:nvPr/>
        </p:nvSpPr>
        <p:spPr>
          <a:xfrm>
            <a:off x="3625260" y="4544304"/>
            <a:ext cx="201976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CAT</a:t>
            </a:r>
          </a:p>
          <a:p>
            <a:pPr algn="ctr"/>
            <a:r>
              <a:rPr lang="en-US">
                <a:latin typeface="+mj-lt"/>
              </a:rPr>
              <a:t>CLASSIFIER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CE17185-277F-4AD9-A8DA-B1944A157103}"/>
              </a:ext>
            </a:extLst>
          </p:cNvPr>
          <p:cNvCxnSpPr>
            <a:stCxn id="5" idx="3"/>
            <a:endCxn id="32" idx="1"/>
          </p:cNvCxnSpPr>
          <p:nvPr/>
        </p:nvCxnSpPr>
        <p:spPr>
          <a:xfrm>
            <a:off x="1752600" y="3637142"/>
            <a:ext cx="1872660" cy="136436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50F6D3-0920-402D-9FDF-200AE75E4E09}"/>
              </a:ext>
            </a:extLst>
          </p:cNvPr>
          <p:cNvCxnSpPr>
            <a:cxnSpLocks/>
            <a:stCxn id="5" idx="3"/>
            <a:endCxn id="31" idx="1"/>
          </p:cNvCxnSpPr>
          <p:nvPr/>
        </p:nvCxnSpPr>
        <p:spPr>
          <a:xfrm flipV="1">
            <a:off x="1752600" y="3421337"/>
            <a:ext cx="1872660" cy="21580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A075A5-5058-41DD-A3CA-679DB1E3E621}"/>
              </a:ext>
            </a:extLst>
          </p:cNvPr>
          <p:cNvGrpSpPr/>
          <p:nvPr/>
        </p:nvGrpSpPr>
        <p:grpSpPr>
          <a:xfrm>
            <a:off x="6211405" y="2279538"/>
            <a:ext cx="2144158" cy="3179166"/>
            <a:chOff x="6211405" y="2279538"/>
            <a:chExt cx="2144158" cy="317916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058C01-EB9D-4812-AF21-7322B146C217}"/>
                </a:ext>
              </a:extLst>
            </p:cNvPr>
            <p:cNvSpPr/>
            <p:nvPr/>
          </p:nvSpPr>
          <p:spPr>
            <a:xfrm>
              <a:off x="6211405" y="2279538"/>
              <a:ext cx="1971542" cy="317916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3747C1E-001F-4571-8617-5EF8F1C7FB9B}"/>
                </a:ext>
              </a:extLst>
            </p:cNvPr>
            <p:cNvSpPr/>
            <p:nvPr/>
          </p:nvSpPr>
          <p:spPr>
            <a:xfrm>
              <a:off x="8010330" y="2564121"/>
              <a:ext cx="345233" cy="3452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70D537C-7D4D-445D-B5AF-477DC3C5BAE3}"/>
                </a:ext>
              </a:extLst>
            </p:cNvPr>
            <p:cNvSpPr/>
            <p:nvPr/>
          </p:nvSpPr>
          <p:spPr>
            <a:xfrm>
              <a:off x="8010329" y="4893904"/>
              <a:ext cx="345233" cy="3452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8554A8D-79FD-4237-AB6B-2B9B7FBA3B71}"/>
                </a:ext>
              </a:extLst>
            </p:cNvPr>
            <p:cNvSpPr/>
            <p:nvPr/>
          </p:nvSpPr>
          <p:spPr>
            <a:xfrm>
              <a:off x="8010328" y="3330005"/>
              <a:ext cx="345233" cy="3452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C53AC7E-68A3-4113-845D-F43F5E1C8A9A}"/>
                </a:ext>
              </a:extLst>
            </p:cNvPr>
            <p:cNvSpPr/>
            <p:nvPr/>
          </p:nvSpPr>
          <p:spPr>
            <a:xfrm>
              <a:off x="8010327" y="4241654"/>
              <a:ext cx="345233" cy="3452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574C97-BFD2-41F5-824A-538C5AD2CDDB}"/>
              </a:ext>
            </a:extLst>
          </p:cNvPr>
          <p:cNvCxnSpPr>
            <a:stCxn id="56" idx="6"/>
            <a:endCxn id="9" idx="1"/>
          </p:cNvCxnSpPr>
          <p:nvPr/>
        </p:nvCxnSpPr>
        <p:spPr>
          <a:xfrm flipV="1">
            <a:off x="8355563" y="2520455"/>
            <a:ext cx="1382716" cy="2162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25602B0-780D-4F63-82E3-2BBDC81D5014}"/>
              </a:ext>
            </a:extLst>
          </p:cNvPr>
          <p:cNvCxnSpPr>
            <a:endCxn id="11" idx="1"/>
          </p:cNvCxnSpPr>
          <p:nvPr/>
        </p:nvCxnSpPr>
        <p:spPr>
          <a:xfrm flipV="1">
            <a:off x="8355560" y="3434855"/>
            <a:ext cx="1382719" cy="67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CA7555C-A6C0-49AC-B487-8E21CC9F674F}"/>
              </a:ext>
            </a:extLst>
          </p:cNvPr>
          <p:cNvCxnSpPr>
            <a:endCxn id="16" idx="1"/>
          </p:cNvCxnSpPr>
          <p:nvPr/>
        </p:nvCxnSpPr>
        <p:spPr>
          <a:xfrm>
            <a:off x="8355560" y="4414270"/>
            <a:ext cx="127253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17C4C7F-4BEB-4A45-A298-5F10BA225CAD}"/>
              </a:ext>
            </a:extLst>
          </p:cNvPr>
          <p:cNvCxnSpPr>
            <a:stCxn id="57" idx="6"/>
            <a:endCxn id="14" idx="1"/>
          </p:cNvCxnSpPr>
          <p:nvPr/>
        </p:nvCxnSpPr>
        <p:spPr>
          <a:xfrm>
            <a:off x="8355562" y="5066521"/>
            <a:ext cx="1382717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3DF2092-50CF-41BA-86F2-70EBC26E98F8}"/>
              </a:ext>
            </a:extLst>
          </p:cNvPr>
          <p:cNvSpPr/>
          <p:nvPr/>
        </p:nvSpPr>
        <p:spPr>
          <a:xfrm>
            <a:off x="3222254" y="2164701"/>
            <a:ext cx="2791321" cy="344992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D64B8E-BE62-4F1D-B6AD-A7D8A496E932}"/>
              </a:ext>
            </a:extLst>
          </p:cNvPr>
          <p:cNvSpPr txBox="1"/>
          <p:nvPr/>
        </p:nvSpPr>
        <p:spPr>
          <a:xfrm>
            <a:off x="3282858" y="2239021"/>
            <a:ext cx="2623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models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54CB0E-0D32-4C84-AA61-289833B71E6C}"/>
              </a:ext>
            </a:extLst>
          </p:cNvPr>
          <p:cNvSpPr txBox="1"/>
          <p:nvPr/>
        </p:nvSpPr>
        <p:spPr>
          <a:xfrm rot="5400000">
            <a:off x="5992081" y="3638291"/>
            <a:ext cx="3179166" cy="4616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</a:rPr>
              <a:t>MAIN CLASSIFIER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F9CED5DA-6D10-4577-A487-B0B25BB867AB}"/>
              </a:ext>
            </a:extLst>
          </p:cNvPr>
          <p:cNvSpPr/>
          <p:nvPr/>
        </p:nvSpPr>
        <p:spPr>
          <a:xfrm>
            <a:off x="6203772" y="2564121"/>
            <a:ext cx="974441" cy="496063"/>
          </a:xfrm>
          <a:custGeom>
            <a:avLst/>
            <a:gdLst>
              <a:gd name="connsiteX0" fmla="*/ 555747 w 803778"/>
              <a:gd name="connsiteY0" fmla="*/ 0 h 496063"/>
              <a:gd name="connsiteX1" fmla="*/ 803778 w 803778"/>
              <a:gd name="connsiteY1" fmla="*/ 248031 h 496063"/>
              <a:gd name="connsiteX2" fmla="*/ 555747 w 803778"/>
              <a:gd name="connsiteY2" fmla="*/ 496062 h 496063"/>
              <a:gd name="connsiteX3" fmla="*/ 555746 w 803778"/>
              <a:gd name="connsiteY3" fmla="*/ 496062 h 496063"/>
              <a:gd name="connsiteX4" fmla="*/ 555746 w 803778"/>
              <a:gd name="connsiteY4" fmla="*/ 496063 h 496063"/>
              <a:gd name="connsiteX5" fmla="*/ 0 w 803778"/>
              <a:gd name="connsiteY5" fmla="*/ 496063 h 496063"/>
              <a:gd name="connsiteX6" fmla="*/ 0 w 803778"/>
              <a:gd name="connsiteY6" fmla="*/ 1 h 496063"/>
              <a:gd name="connsiteX7" fmla="*/ 555737 w 803778"/>
              <a:gd name="connsiteY7" fmla="*/ 1 h 4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3778" h="496063">
                <a:moveTo>
                  <a:pt x="555747" y="0"/>
                </a:moveTo>
                <a:cubicBezTo>
                  <a:pt x="692731" y="0"/>
                  <a:pt x="803778" y="111047"/>
                  <a:pt x="803778" y="248031"/>
                </a:cubicBezTo>
                <a:cubicBezTo>
                  <a:pt x="803778" y="385015"/>
                  <a:pt x="692731" y="496062"/>
                  <a:pt x="555747" y="496062"/>
                </a:cubicBezTo>
                <a:lnTo>
                  <a:pt x="555746" y="496062"/>
                </a:lnTo>
                <a:lnTo>
                  <a:pt x="555746" y="496063"/>
                </a:lnTo>
                <a:lnTo>
                  <a:pt x="0" y="496063"/>
                </a:lnTo>
                <a:lnTo>
                  <a:pt x="0" y="1"/>
                </a:lnTo>
                <a:lnTo>
                  <a:pt x="555737" y="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/>
              <a:t>is_dog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D7357852-69C9-4030-9E5C-E0B6700D2D98}"/>
              </a:ext>
            </a:extLst>
          </p:cNvPr>
          <p:cNvSpPr/>
          <p:nvPr/>
        </p:nvSpPr>
        <p:spPr>
          <a:xfrm>
            <a:off x="6203773" y="3220706"/>
            <a:ext cx="974442" cy="496063"/>
          </a:xfrm>
          <a:custGeom>
            <a:avLst/>
            <a:gdLst>
              <a:gd name="connsiteX0" fmla="*/ 555747 w 803778"/>
              <a:gd name="connsiteY0" fmla="*/ 0 h 496063"/>
              <a:gd name="connsiteX1" fmla="*/ 803778 w 803778"/>
              <a:gd name="connsiteY1" fmla="*/ 248031 h 496063"/>
              <a:gd name="connsiteX2" fmla="*/ 555747 w 803778"/>
              <a:gd name="connsiteY2" fmla="*/ 496062 h 496063"/>
              <a:gd name="connsiteX3" fmla="*/ 555746 w 803778"/>
              <a:gd name="connsiteY3" fmla="*/ 496062 h 496063"/>
              <a:gd name="connsiteX4" fmla="*/ 555746 w 803778"/>
              <a:gd name="connsiteY4" fmla="*/ 496063 h 496063"/>
              <a:gd name="connsiteX5" fmla="*/ 0 w 803778"/>
              <a:gd name="connsiteY5" fmla="*/ 496063 h 496063"/>
              <a:gd name="connsiteX6" fmla="*/ 0 w 803778"/>
              <a:gd name="connsiteY6" fmla="*/ 1 h 496063"/>
              <a:gd name="connsiteX7" fmla="*/ 555737 w 803778"/>
              <a:gd name="connsiteY7" fmla="*/ 1 h 4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3778" h="496063">
                <a:moveTo>
                  <a:pt x="555747" y="0"/>
                </a:moveTo>
                <a:cubicBezTo>
                  <a:pt x="692731" y="0"/>
                  <a:pt x="803778" y="111047"/>
                  <a:pt x="803778" y="248031"/>
                </a:cubicBezTo>
                <a:cubicBezTo>
                  <a:pt x="803778" y="385015"/>
                  <a:pt x="692731" y="496062"/>
                  <a:pt x="555747" y="496062"/>
                </a:cubicBezTo>
                <a:lnTo>
                  <a:pt x="555746" y="496062"/>
                </a:lnTo>
                <a:lnTo>
                  <a:pt x="555746" y="496063"/>
                </a:lnTo>
                <a:lnTo>
                  <a:pt x="0" y="496063"/>
                </a:lnTo>
                <a:lnTo>
                  <a:pt x="0" y="1"/>
                </a:lnTo>
                <a:lnTo>
                  <a:pt x="555737" y="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/>
              <a:t>!is_dog</a:t>
            </a: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64767687-4AE6-4C0F-B57A-FD5060527A36}"/>
              </a:ext>
            </a:extLst>
          </p:cNvPr>
          <p:cNvSpPr/>
          <p:nvPr/>
        </p:nvSpPr>
        <p:spPr>
          <a:xfrm>
            <a:off x="6203773" y="4241654"/>
            <a:ext cx="974440" cy="496063"/>
          </a:xfrm>
          <a:custGeom>
            <a:avLst/>
            <a:gdLst>
              <a:gd name="connsiteX0" fmla="*/ 555747 w 803778"/>
              <a:gd name="connsiteY0" fmla="*/ 0 h 496063"/>
              <a:gd name="connsiteX1" fmla="*/ 803778 w 803778"/>
              <a:gd name="connsiteY1" fmla="*/ 248031 h 496063"/>
              <a:gd name="connsiteX2" fmla="*/ 555747 w 803778"/>
              <a:gd name="connsiteY2" fmla="*/ 496062 h 496063"/>
              <a:gd name="connsiteX3" fmla="*/ 555746 w 803778"/>
              <a:gd name="connsiteY3" fmla="*/ 496062 h 496063"/>
              <a:gd name="connsiteX4" fmla="*/ 555746 w 803778"/>
              <a:gd name="connsiteY4" fmla="*/ 496063 h 496063"/>
              <a:gd name="connsiteX5" fmla="*/ 0 w 803778"/>
              <a:gd name="connsiteY5" fmla="*/ 496063 h 496063"/>
              <a:gd name="connsiteX6" fmla="*/ 0 w 803778"/>
              <a:gd name="connsiteY6" fmla="*/ 1 h 496063"/>
              <a:gd name="connsiteX7" fmla="*/ 555737 w 803778"/>
              <a:gd name="connsiteY7" fmla="*/ 1 h 4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3778" h="496063">
                <a:moveTo>
                  <a:pt x="555747" y="0"/>
                </a:moveTo>
                <a:cubicBezTo>
                  <a:pt x="692731" y="0"/>
                  <a:pt x="803778" y="111047"/>
                  <a:pt x="803778" y="248031"/>
                </a:cubicBezTo>
                <a:cubicBezTo>
                  <a:pt x="803778" y="385015"/>
                  <a:pt x="692731" y="496062"/>
                  <a:pt x="555747" y="496062"/>
                </a:cubicBezTo>
                <a:lnTo>
                  <a:pt x="555746" y="496062"/>
                </a:lnTo>
                <a:lnTo>
                  <a:pt x="555746" y="496063"/>
                </a:lnTo>
                <a:lnTo>
                  <a:pt x="0" y="496063"/>
                </a:lnTo>
                <a:lnTo>
                  <a:pt x="0" y="1"/>
                </a:lnTo>
                <a:lnTo>
                  <a:pt x="555737" y="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/>
              <a:t>is_cat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E12B7BA-0891-4EAE-B262-53D05FEA08DF}"/>
              </a:ext>
            </a:extLst>
          </p:cNvPr>
          <p:cNvSpPr/>
          <p:nvPr/>
        </p:nvSpPr>
        <p:spPr>
          <a:xfrm>
            <a:off x="6203772" y="4898239"/>
            <a:ext cx="974439" cy="496063"/>
          </a:xfrm>
          <a:custGeom>
            <a:avLst/>
            <a:gdLst>
              <a:gd name="connsiteX0" fmla="*/ 555747 w 803778"/>
              <a:gd name="connsiteY0" fmla="*/ 0 h 496063"/>
              <a:gd name="connsiteX1" fmla="*/ 803778 w 803778"/>
              <a:gd name="connsiteY1" fmla="*/ 248031 h 496063"/>
              <a:gd name="connsiteX2" fmla="*/ 555747 w 803778"/>
              <a:gd name="connsiteY2" fmla="*/ 496062 h 496063"/>
              <a:gd name="connsiteX3" fmla="*/ 555746 w 803778"/>
              <a:gd name="connsiteY3" fmla="*/ 496062 h 496063"/>
              <a:gd name="connsiteX4" fmla="*/ 555746 w 803778"/>
              <a:gd name="connsiteY4" fmla="*/ 496063 h 496063"/>
              <a:gd name="connsiteX5" fmla="*/ 0 w 803778"/>
              <a:gd name="connsiteY5" fmla="*/ 496063 h 496063"/>
              <a:gd name="connsiteX6" fmla="*/ 0 w 803778"/>
              <a:gd name="connsiteY6" fmla="*/ 1 h 496063"/>
              <a:gd name="connsiteX7" fmla="*/ 555737 w 803778"/>
              <a:gd name="connsiteY7" fmla="*/ 1 h 4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3778" h="496063">
                <a:moveTo>
                  <a:pt x="555747" y="0"/>
                </a:moveTo>
                <a:cubicBezTo>
                  <a:pt x="692731" y="0"/>
                  <a:pt x="803778" y="111047"/>
                  <a:pt x="803778" y="248031"/>
                </a:cubicBezTo>
                <a:cubicBezTo>
                  <a:pt x="803778" y="385015"/>
                  <a:pt x="692731" y="496062"/>
                  <a:pt x="555747" y="496062"/>
                </a:cubicBezTo>
                <a:lnTo>
                  <a:pt x="555746" y="496062"/>
                </a:lnTo>
                <a:lnTo>
                  <a:pt x="555746" y="496063"/>
                </a:lnTo>
                <a:lnTo>
                  <a:pt x="0" y="496063"/>
                </a:lnTo>
                <a:lnTo>
                  <a:pt x="0" y="1"/>
                </a:lnTo>
                <a:lnTo>
                  <a:pt x="555737" y="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/>
              <a:t>!is_cat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C0F5235-193D-40B1-8144-A7E1EBB4DDDE}"/>
              </a:ext>
            </a:extLst>
          </p:cNvPr>
          <p:cNvCxnSpPr>
            <a:cxnSpLocks/>
          </p:cNvCxnSpPr>
          <p:nvPr/>
        </p:nvCxnSpPr>
        <p:spPr>
          <a:xfrm flipV="1">
            <a:off x="5542384" y="2909355"/>
            <a:ext cx="669021" cy="27058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3834B35-FD31-4CFA-959F-151866078016}"/>
              </a:ext>
            </a:extLst>
          </p:cNvPr>
          <p:cNvCxnSpPr>
            <a:cxnSpLocks/>
          </p:cNvCxnSpPr>
          <p:nvPr/>
        </p:nvCxnSpPr>
        <p:spPr>
          <a:xfrm flipV="1">
            <a:off x="5550016" y="3502621"/>
            <a:ext cx="669021" cy="17261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3B18CA1-E774-4525-B124-FAB56F79A2F8}"/>
              </a:ext>
            </a:extLst>
          </p:cNvPr>
          <p:cNvCxnSpPr>
            <a:cxnSpLocks/>
          </p:cNvCxnSpPr>
          <p:nvPr/>
        </p:nvCxnSpPr>
        <p:spPr>
          <a:xfrm flipV="1">
            <a:off x="5435937" y="4558625"/>
            <a:ext cx="804851" cy="20329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6634815-DF36-411A-89B7-08A028246AC1}"/>
              </a:ext>
            </a:extLst>
          </p:cNvPr>
          <p:cNvCxnSpPr>
            <a:cxnSpLocks/>
          </p:cNvCxnSpPr>
          <p:nvPr/>
        </p:nvCxnSpPr>
        <p:spPr>
          <a:xfrm flipV="1">
            <a:off x="5541480" y="5168428"/>
            <a:ext cx="699308" cy="3969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88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CC1489-A0C3-4980-97C8-BB60F490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D71E3-6BC0-446D-8294-5D7F69992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10000 bức hình chó và mèo (bao gồm có 1 trong 2 hoặc cả 2)</a:t>
            </a:r>
          </a:p>
          <a:p>
            <a:r>
              <a:rPr lang="en-US"/>
              <a:t>Feature: Tập hợp các điểm ảnh với ảnh có size là 200x200x3 (chuẩn hóa hình theo một tỉ lệ nhất định)</a:t>
            </a:r>
          </a:p>
        </p:txBody>
      </p:sp>
    </p:spTree>
    <p:extLst>
      <p:ext uri="{BB962C8B-B14F-4D97-AF65-F5344CB8AC3E}">
        <p14:creationId xmlns:p14="http://schemas.microsoft.com/office/powerpoint/2010/main" val="397201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E09A-66C4-4827-8634-2DE4484E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Những hiểu biết của nhóm về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27AF-8248-44CB-A32B-927B3418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WIP</a:t>
            </a:r>
          </a:p>
          <a:p>
            <a:r>
              <a:rPr lang="en-US"/>
              <a:t>Group pls add somethings</a:t>
            </a:r>
          </a:p>
        </p:txBody>
      </p:sp>
    </p:spTree>
    <p:extLst>
      <p:ext uri="{BB962C8B-B14F-4D97-AF65-F5344CB8AC3E}">
        <p14:creationId xmlns:p14="http://schemas.microsoft.com/office/powerpoint/2010/main" val="121578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DDE44B4EAD44791D24CE92B8F2AAF" ma:contentTypeVersion="8" ma:contentTypeDescription="Create a new document." ma:contentTypeScope="" ma:versionID="5e4eeef947ceebe4d9866cad73df73aa">
  <xsd:schema xmlns:xsd="http://www.w3.org/2001/XMLSchema" xmlns:xs="http://www.w3.org/2001/XMLSchema" xmlns:p="http://schemas.microsoft.com/office/2006/metadata/properties" xmlns:ns3="552f881a-8760-4035-b560-d8c680fda9a9" xmlns:ns4="c620308e-cf7c-45d3-a1a9-a00cba2635f6" targetNamespace="http://schemas.microsoft.com/office/2006/metadata/properties" ma:root="true" ma:fieldsID="6a0603e8c8248f219beaf0a3ca5bd216" ns3:_="" ns4:_="">
    <xsd:import namespace="552f881a-8760-4035-b560-d8c680fda9a9"/>
    <xsd:import namespace="c620308e-cf7c-45d3-a1a9-a00cba2635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f881a-8760-4035-b560-d8c680fda9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20308e-cf7c-45d3-a1a9-a00cba2635f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2A414A-E7E5-4BD1-AD87-4287D9A90F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f881a-8760-4035-b560-d8c680fda9a9"/>
    <ds:schemaRef ds:uri="c620308e-cf7c-45d3-a1a9-a00cba2635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60129B-874A-4B90-85C2-254778984C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1795E-8B3D-491F-AB3F-20158460B6AE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c620308e-cf7c-45d3-a1a9-a00cba2635f6"/>
    <ds:schemaRef ds:uri="552f881a-8760-4035-b560-d8c680fda9a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178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ĐỒ ÁN HỌC MÁY</vt:lpstr>
      <vt:lpstr>Mô tả bài toán</vt:lpstr>
      <vt:lpstr>Mô tả bài toán</vt:lpstr>
      <vt:lpstr>Kiến trúc mô hình</vt:lpstr>
      <vt:lpstr>Datasets</vt:lpstr>
      <vt:lpstr>Những hiểu biết của nhóm về CNN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HỌC MÁY</dc:title>
  <dc:creator>Duong Tien</dc:creator>
  <cp:lastModifiedBy>Duong Tien</cp:lastModifiedBy>
  <cp:revision>2</cp:revision>
  <dcterms:created xsi:type="dcterms:W3CDTF">2021-03-11T11:47:13Z</dcterms:created>
  <dcterms:modified xsi:type="dcterms:W3CDTF">2021-03-11T12:45:48Z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0x0101002E4DDE44B4EAD44791D24CE92B8F2AAF</vt:lpwstr>
  </property>
</Properties>
</file>